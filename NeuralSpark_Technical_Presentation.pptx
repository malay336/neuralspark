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Consolas"/>
              </a:defRPr>
            </a:pPr>
            <a:r>
              <a:t>NEURALSPARK</a:t>
            </a:r>
          </a:p>
          <a:p>
            <a:pPr algn="ctr">
              <a:spcBef>
                <a:spcPts val="1500"/>
              </a:spcBef>
              <a:defRPr sz="1800">
                <a:solidFill>
                  <a:srgbClr val="64FFDA"/>
                </a:solidFill>
                <a:latin typeface="Arial"/>
              </a:defRPr>
            </a:pPr>
            <a:r>
              <a:t>Next-Generation AI-Powered E-Learning Platform &amp;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892B0"/>
                </a:solidFill>
                <a:latin typeface="Consolas"/>
              </a:defRPr>
            </a:pPr>
            <a:r>
              <a:t>Full-Stack System Architecture // Multimodal AI Grading Pipeline // Interactive Video Hub</a:t>
            </a:r>
          </a:p>
          <a:p>
            <a:pPr algn="ctr">
              <a:spcBef>
                <a:spcPts val="2000"/>
              </a:spcBef>
              <a:defRPr sz="1200" b="1">
                <a:solidFill>
                  <a:srgbClr val="10B981"/>
                </a:solidFill>
                <a:latin typeface="Arial"/>
              </a:defRPr>
            </a:pPr>
            <a:r>
              <a:t>COLLEGE TECHNICAL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64FFDA"/>
                </a:solidFill>
                <a:latin typeface="Consolas"/>
              </a:defRPr>
            </a:pPr>
            <a:r>
              <a:t>NEURALSPARK //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Platform Core Pillars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64FFDA"/>
                </a:solidFill>
                <a:latin typeface="Arial"/>
              </a:defRPr>
            </a:pPr>
            <a:r>
              <a:t>Interactive Video 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28346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Sequenced chapter progression enabling structured learning syllabus.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Category tagging for easy filtering and discovery of learning topics.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Dynamic progress tracking linked with user profile statistics.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Standardized external video link integration and responsive player.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Community Q&amp;A Forum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286000"/>
            <a:ext cx="28346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Discussion boards supporting structured question and answer threads.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Gamified reputation tracking based on answer helpfulness &amp; community votes.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Topic tag tagging systems (ManyToMany relations) to prevent duplicate topics.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Interactive upvote/downvote and nested comment mechanics.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8288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8B5CF6"/>
                </a:solidFill>
                <a:latin typeface="Arial"/>
              </a:defRPr>
            </a:pPr>
            <a:r>
              <a:t>Dual-Engine AI Grader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286000"/>
            <a:ext cx="28346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Automated grading pipelines evaluating solutions against custom rubrics.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Cloud Multimodal integration supporting rich PDF and image parsing.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Local classification using custom Hugging Face sequence classifiers.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Itemized criteria marking, qualitative comments, and final score outputs.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64FFDA"/>
                </a:solidFill>
                <a:latin typeface="Consolas"/>
              </a:defRPr>
            </a:pPr>
            <a:r>
              <a:t>NEURALSPARK // 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Full-Stack Tech Stack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64FFDA"/>
                </a:solidFill>
                <a:latin typeface="Arial"/>
              </a:defRPr>
            </a:pPr>
            <a:r>
              <a:t>Next.js 16 Frontend App 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6634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Framework: Next.js 16 (App Router) + React 19 in TypeScript.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Styling: Tailwind CSS 4 offering modern utility-first stylesheet compilation.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Animation: Framer Motion 12 driving seamless spring physics animations.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API Client: Axios 1.13.5 utilizing global JSON response parsers.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Theme System: LocalStorage synced ThemeProvider (Dark / Light toggle).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Django 6 Ninja API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286000"/>
            <a:ext cx="46634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Framework: Django 6.0.2 core leveraging robust relational ORM.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API Engine: Django Ninja 1.5.3 compiling super-fast typesafe JSON routes.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Data Validation: Pydantic 2.12.5 handling auto incoming / outgoing schemas.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Database Layer: SQLite (local development) / PostgreSQL (production).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Admin Console: Preconfigured Django admin dashboard for instant CMS.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64FFDA"/>
                </a:solidFill>
                <a:latin typeface="Consolas"/>
              </a:defRPr>
            </a:pPr>
            <a:r>
              <a:t>NEURALSPARK // 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Interactive User Experience 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FFDA"/>
                </a:solidFill>
                <a:latin typeface="Consolas"/>
              </a:defRPr>
            </a:pPr>
            <a:r>
              <a:t>1. SEQUENCE 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Syllabus Video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8892B0"/>
                </a:solidFill>
                <a:latin typeface="Arial"/>
              </a:defRPr>
            </a:pPr>
            <a:r>
              <a:t>Students stream modular video chapters organized cleanly by category filter panels.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8288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Consolas"/>
              </a:defRPr>
            </a:pPr>
            <a:r>
              <a:t>2. INTERACT FORUM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2860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Q&amp;A Discussion Boards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92608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8892B0"/>
                </a:solidFill>
                <a:latin typeface="Arial"/>
              </a:defRPr>
            </a:pPr>
            <a:r>
              <a:t>Discuss complex problems, upvote top-tier answers, comment on details to earn reputation points.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FFDA"/>
                </a:solidFill>
                <a:latin typeface="Consolas"/>
              </a:defRPr>
            </a:pPr>
            <a:r>
              <a:t>3. AI GRADE SUBMIT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2860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Multimodal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2608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8892B0"/>
                </a:solidFill>
                <a:latin typeface="Arial"/>
              </a:defRPr>
            </a:pPr>
            <a:r>
              <a:t>Upload PDF drafts or pictures of written work alongside a specified question and scoring rubric.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8288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Consolas"/>
              </a:defRPr>
            </a:pPr>
            <a:r>
              <a:t>4. RECEIVE FEEDBACK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2860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Comprehensive Scoring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92608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8892B0"/>
                </a:solidFill>
                <a:latin typeface="Arial"/>
              </a:defRPr>
            </a:pPr>
            <a:r>
              <a:t>View immediate score allocations and comprehensive qualitative grading review reports.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64FFDA"/>
                </a:solidFill>
                <a:latin typeface="Consolas"/>
              </a:defRPr>
            </a:pPr>
            <a:r>
              <a:t>NEURALSPARK // DATABASE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Database Schema &amp; Core Entities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870655"/>
                <a:gridCol w="5029200"/>
              </a:tblGrid>
              <a:tr h="627017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4FFDA"/>
                          </a:solidFill>
                          <a:latin typeface="Consolas"/>
                        </a:defRPr>
                      </a:pPr>
                      <a:r>
                        <a:t>CORE MODEL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4FFDA"/>
                          </a:solidFill>
                          <a:latin typeface="Consolas"/>
                        </a:defRPr>
                      </a:pPr>
                      <a:r>
                        <a:t>RELATIONAL ASSOCIATIONS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4FFDA"/>
                          </a:solidFill>
                          <a:latin typeface="Consolas"/>
                        </a:defRPr>
                      </a:pPr>
                      <a:r>
                        <a:t>PRIMARY PURPOSE &amp; ROLE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User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892B0"/>
                          </a:solidFill>
                          <a:latin typeface="Arial"/>
                        </a:defRPr>
                      </a:pPr>
                      <a:r>
                        <a:t>Inherits AbstractUser. Linked as FK to Question/Answer.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892B0"/>
                          </a:solidFill>
                          <a:latin typeface="Arial"/>
                        </a:defRPr>
                      </a:pPr>
                      <a:r>
                        <a:t>Handles credentials, customized bio text, and community reputation points.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Tag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892B0"/>
                          </a:solidFill>
                          <a:latin typeface="Arial"/>
                        </a:defRPr>
                      </a:pPr>
                      <a:r>
                        <a:t>ManyToMany relationship with Questions.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892B0"/>
                          </a:solidFill>
                          <a:latin typeface="Arial"/>
                        </a:defRPr>
                      </a:pPr>
                      <a:r>
                        <a:t>Topic cataloging mechanism preventing duplicates via a unique constraints schema.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Lecture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892B0"/>
                          </a:solidFill>
                          <a:latin typeface="Arial"/>
                        </a:defRPr>
                      </a:pPr>
                      <a:r>
                        <a:t>ForeignKey to Category. Ordered sequencers.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892B0"/>
                          </a:solidFill>
                          <a:latin typeface="Arial"/>
                        </a:defRPr>
                      </a:pPr>
                      <a:r>
                        <a:t>Sequenced modular video classes mapping a structured study syllabus.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892B0"/>
                          </a:solidFill>
                          <a:latin typeface="Arial"/>
                        </a:defRPr>
                      </a:pPr>
                      <a:r>
                        <a:t>ForeignKey to Category, ManyToMany to Tags.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892B0"/>
                          </a:solidFill>
                          <a:latin typeface="Arial"/>
                        </a:defRPr>
                      </a:pPr>
                      <a:r>
                        <a:t>The community forum node recording titles, body markdown, view tallies, and votes.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Answer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892B0"/>
                          </a:solidFill>
                          <a:latin typeface="Arial"/>
                        </a:defRPr>
                      </a:pPr>
                      <a:r>
                        <a:t>ForeignKey to Question, Boolean approval flag.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892B0"/>
                          </a:solidFill>
                          <a:latin typeface="Arial"/>
                        </a:defRPr>
                      </a:pPr>
                      <a:r>
                        <a:t>Answers submitted under discussion threads. Requires moderator check before display.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Inquiry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892B0"/>
                          </a:solidFill>
                          <a:latin typeface="Arial"/>
                        </a:defRPr>
                      </a:pPr>
                      <a:r>
                        <a:t>ForeignKey (nullable) to Services model.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892B0"/>
                          </a:solidFill>
                          <a:latin typeface="Arial"/>
                        </a:defRPr>
                      </a:pPr>
                      <a:r>
                        <a:t>CRM lead tracking capturing customer email bookings for premium learning services.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64FFDA"/>
                </a:solidFill>
                <a:latin typeface="Consolas"/>
              </a:defRPr>
            </a:pPr>
            <a:r>
              <a:t>NEURALSPARK // AI ENGINES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Dual-Engine Automated Grading 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64FFDA"/>
                </a:solidFill>
                <a:latin typeface="Arial"/>
              </a:defRPr>
            </a:pPr>
            <a:r>
              <a:t>Cloud-Based Multimodal Grading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6634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Inference Engine: Groq Multimodal APIs (Llama 3.2 Vision Model).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Document Parser: PyPDF2 text extraction library reading multi-page drafts.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Image Encoder: Base64 encoding pipeline converting pictures to data URIs.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Evaluation Method: Strict prompt instructions mapping solutions directly against core criteria rubrics.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Output Format: Itemized markdown feedback reports with assigned criteria scores.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Local Fine-Tuned Custom Grading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286000"/>
            <a:ext cx="46634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Inference Engine: Fine-tuned local Transformer sequence classification model.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Module Library: Python Hugging Face 'transformers' pipelines.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Lazy Loader: Python memory optimizer caching active models inside a global cache upon first request.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Evaluation Method: Direct sequence classification outputting absolute numeric grading metrics.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Deployment Goal: 100% data privacy and offline compliance for institutions.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64FFDA"/>
                </a:solidFill>
                <a:latin typeface="Consolas"/>
              </a:defRPr>
            </a:pPr>
            <a:r>
              <a:t>NEURALSPARK // GRADER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Multimodal AI Grader Pipeline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64FFDA"/>
                </a:solidFill>
                <a:latin typeface="Arial"/>
              </a:defRPr>
            </a:pPr>
            <a:r>
              <a:t>Step-by-Step Backend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6634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1. Request Intake: REST client POSTs grading package (rubric text, question parameters, student answer files).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2. Media Checking: Server splits PDF files from image uploads based on content MIME-type suffixes.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3. Image Conversion: JPG/PNG bytes convert to Base64 data blocks nested directly in the LLM's prompt array.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4. Text Parsing: PyPDF2 reads complex PDF page layouts, extracting pure text lines for contextual prompt insertion.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5. System Prompt: Direct instructions mandate objective rubric grading with strict output schemas.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6. Validation: Outgoing JSON is structured via Pydantic Schemas to guarantee clean rendering.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Data Schemas &amp; System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286000"/>
            <a:ext cx="46634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API Endpoint: /products/ai-grader/ (Multimodal Cloud Grader)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Form Parameters: Multi-part form-data body transmitting raw files alongside text strings.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Pydantic Validation: Restrictive data parsing checking type boundaries before hitting the model API.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Unit Coverage: Test scripts verify pipeline file parsers by supplying pre-built local mock PDFs.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API Response: Serializes evaluations into a structured feedback stream for the UI player.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64FFDA"/>
                </a:solidFill>
                <a:latin typeface="Consolas"/>
              </a:defRPr>
            </a:pPr>
            <a:r>
              <a:t>NEURALSPARK // DJANGO API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RESTful API Endpoints &amp; Ninja Schemas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2011680"/>
                <a:gridCol w="4144975"/>
              </a:tblGrid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4FFDA"/>
                          </a:solidFill>
                          <a:latin typeface="Consolas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4FFDA"/>
                          </a:solidFill>
                          <a:latin typeface="Consolas"/>
                        </a:defRPr>
                      </a:pPr>
                      <a:r>
                        <a:t>ENDPOINT PATH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4FFDA"/>
                          </a:solidFill>
                          <a:latin typeface="Consolas"/>
                        </a:defRPr>
                      </a:pPr>
                      <a:r>
                        <a:t>SCHEMA (PYDANTIC)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4FFDA"/>
                          </a:solidFill>
                          <a:latin typeface="Consolas"/>
                        </a:defRPr>
                      </a:pPr>
                      <a:r>
                        <a:t>SYSTEM HANDLER BEHAVIOR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4FFDA"/>
                          </a:solidFill>
                          <a:latin typeface="Arial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/api/questions/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8892B0"/>
                          </a:solidFill>
                          <a:latin typeface="Arial"/>
                        </a:defRPr>
                      </a:pPr>
                      <a:r>
                        <a:t>QuestionOutSchema (List)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8892B0"/>
                          </a:solidFill>
                          <a:latin typeface="Arial"/>
                        </a:defRPr>
                      </a:pPr>
                      <a:r>
                        <a:t>Fetches community forum posts ordered newest first (-created_at).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/api/questions/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8892B0"/>
                          </a:solidFill>
                          <a:latin typeface="Arial"/>
                        </a:defRPr>
                      </a:pPr>
                      <a:r>
                        <a:t>QuestionInSchema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8892B0"/>
                          </a:solidFill>
                          <a:latin typeface="Arial"/>
                        </a:defRPr>
                      </a:pPr>
                      <a:r>
                        <a:t>Saves new forum posts, deduplicating topic tags dynamically.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4FFDA"/>
                          </a:solidFill>
                          <a:latin typeface="Arial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/api/questions/{id}/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8892B0"/>
                          </a:solidFill>
                          <a:latin typeface="Arial"/>
                        </a:defRPr>
                      </a:pPr>
                      <a:r>
                        <a:t>QuestionOutSchema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8892B0"/>
                          </a:solidFill>
                          <a:latin typeface="Arial"/>
                        </a:defRPr>
                      </a:pPr>
                      <a:r>
                        <a:t>Fetches detail card, atomically incrementing the view counter.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/api/questions/{id}/answers/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8892B0"/>
                          </a:solidFill>
                          <a:latin typeface="Arial"/>
                        </a:defRPr>
                      </a:pPr>
                      <a:r>
                        <a:t>AnswerInSchema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8892B0"/>
                          </a:solidFill>
                          <a:latin typeface="Arial"/>
                        </a:defRPr>
                      </a:pPr>
                      <a:r>
                        <a:t>Submits answer draft directly into the moderation admin queue.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/api/answers/{id}/upvote/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8892B0"/>
                          </a:solidFill>
                          <a:latin typeface="Arial"/>
                        </a:defRPr>
                      </a:pPr>
                      <a:r>
                        <a:t>AIGraderOutSchema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8892B0"/>
                          </a:solidFill>
                          <a:latin typeface="Arial"/>
                        </a:defRPr>
                      </a:pPr>
                      <a:r>
                        <a:t>Atomically increments positive votes for community grading.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/api/products/ai-grader/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8892B0"/>
                          </a:solidFill>
                          <a:latin typeface="Arial"/>
                        </a:defRPr>
                      </a:pPr>
                      <a:r>
                        <a:t>Multi-part Forms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8892B0"/>
                          </a:solidFill>
                          <a:latin typeface="Arial"/>
                        </a:defRPr>
                      </a:pPr>
                      <a:r>
                        <a:t>Cloud Vision pipeline evaluating PDFs/images via Groq SDK.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/api/inquiries/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8892B0"/>
                          </a:solidFill>
                          <a:latin typeface="Arial"/>
                        </a:defRPr>
                      </a:pPr>
                      <a:r>
                        <a:t>InquiryInSchema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8892B0"/>
                          </a:solidFill>
                          <a:latin typeface="Arial"/>
                        </a:defRPr>
                      </a:pPr>
                      <a:r>
                        <a:t>Saves premium mentoring inquiries directly into CRM leads table.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64FFDA"/>
                </a:solidFill>
                <a:latin typeface="Consolas"/>
              </a:defRPr>
            </a:pPr>
            <a:r>
              <a:t>NEURALSPARK // FRONTEND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Modern User Experience &amp; UI Dynamics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64FFDA"/>
                </a:solidFill>
                <a:latin typeface="Arial"/>
              </a:defRPr>
            </a:pPr>
            <a:r>
              <a:t>Micro-interactions &amp; Physics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6634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Framer Motion spring physics driving smooth spring transitions.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Interactive hover animations on all navigation navbar items.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Staggered grid layout entrance animations for lecture hubs.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Sticky navbar with sleek blurred backdrop-filter overlay layouts.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Crisp scalable vector graphics powered by Lucide React packages.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State Sync &amp; Adaptability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286000"/>
            <a:ext cx="46634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Custom useTheme hook reading and writing system dark variables.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Theme persistence utilizing browser LocalStorage parameters.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Hydration protection preventing React mismatched UI loads.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Flexible Tailwind CSS 4 grids accommodating small screens &amp; desktop layouts.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Responsive media player layout fitting multiple lecture aspect ratios.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64FFDA"/>
                </a:solidFill>
                <a:latin typeface="Consolas"/>
              </a:defRPr>
            </a:pPr>
            <a:r>
              <a:t>NEURALSPARK //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Summary of Technical Achievements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714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64FFDA"/>
                </a:solidFill>
                <a:latin typeface="Arial"/>
              </a:defRPr>
            </a:pPr>
            <a:r>
              <a:t>Platform Strengths &amp; Innovations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10271455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Ultra-Fast API Response Times: Django Ninja REST overhead measures under 50ms, beating legacy frameworks.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Intelligent Dual-Engine AI Routing: Combines rich cloud-based vision processing (Groq) with fast, private local classifications.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Robust Structural Validation: Strict validation layers via Pydantic schemas eliminate bad payload database writes.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High-Fidelity Interface Design: Clean styling via Tailwind 4 and Framer Motion delivers exceptional desktop and mobile UX.</a:t>
            </a:r>
          </a:p>
          <a:p>
            <a:pPr>
              <a:spcAft>
                <a:spcPts val="600"/>
              </a:spcAft>
              <a:defRPr sz="1100">
                <a:solidFill>
                  <a:srgbClr val="8892B0"/>
                </a:solidFill>
                <a:latin typeface="Arial"/>
              </a:defRPr>
            </a:pPr>
            <a:r>
              <a:t>• Production &amp; Offline Readiness: Preconfigured offline run environment (.bat files) and built-in SQLite/Postgres configs enable effortless local &amp; cloud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